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0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035d50dfa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035d50dfa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035d50dfa2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035d50dfa2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035d50dfa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035d50dfa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35d50dfa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035d50dfa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fc2a0d6a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fc2a0d6a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35d50dfa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035d50dfa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c2a0d6a2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fc2a0d6a2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c2a0d6a2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fc2a0d6a2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fc2a0d6a2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fc2a0d6a2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fc2a0d6a2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fc2a0d6a2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fc2a0d6a2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fc2a0d6a2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ephi.org/feature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ephi.org/tutorials/gephi-tutorial-quick_start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einecle.github.io/gephi-tutorials/generated-pdf/simple-project-from-a-to-z-en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seinecle/gephi-tutorials/blob/master/src/main/asciidoc/twitter-streaming-importer-en.adoc" TargetMode="External"/><Relationship Id="rId4" Type="http://schemas.openxmlformats.org/officeDocument/2006/relationships/hyperlink" Target="https://gephi.org/plugins/#/plugin/twitter-streaming-importer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00" dirty="0"/>
              <a:t>Social Network Analysis: Gephi</a:t>
            </a:r>
            <a:endParaRPr sz="28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7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09"/>
              <a:buNone/>
            </a:pPr>
            <a:r>
              <a:rPr lang="en" sz="1600"/>
              <a:t>ผศ. ดร. เอกรัฐ รัฐกาญจน์ (Ekarat Rattagan)</a:t>
            </a:r>
            <a:endParaRPr sz="1600"/>
          </a:p>
          <a:p>
            <a:pPr marL="0" lvl="0" indent="0" algn="ctr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09"/>
              <a:buNone/>
            </a:pPr>
            <a:endParaRPr sz="1600"/>
          </a:p>
          <a:p>
            <a:pPr marL="0" lvl="0" indent="0" algn="ctr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09"/>
              <a:buNone/>
            </a:pPr>
            <a:r>
              <a:rPr lang="en" sz="1600"/>
              <a:t>ผู้อำนวยการ</a:t>
            </a:r>
            <a:r>
              <a:rPr lang="en" sz="1600">
                <a:solidFill>
                  <a:srgbClr val="333333"/>
                </a:solidFill>
              </a:rPr>
              <a:t>หลักสูตรวิทยาศาสตรมหาบัณฑิต</a:t>
            </a:r>
            <a:endParaRPr sz="1600">
              <a:solidFill>
                <a:srgbClr val="333333"/>
              </a:solidFill>
            </a:endParaRPr>
          </a:p>
          <a:p>
            <a:pPr marL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09"/>
              <a:buNone/>
            </a:pPr>
            <a:r>
              <a:rPr lang="en" sz="1600">
                <a:solidFill>
                  <a:srgbClr val="333333"/>
                </a:solidFill>
              </a:rPr>
              <a:t>สาขาวิชาการวิเคราะห์ข้อมูลและวิทยาการข้อมูล </a:t>
            </a:r>
            <a:endParaRPr sz="1600">
              <a:solidFill>
                <a:srgbClr val="333333"/>
              </a:solidFill>
            </a:endParaRPr>
          </a:p>
          <a:p>
            <a:pPr marL="0" lvl="0" indent="0" algn="ctr" rtl="0">
              <a:lnSpc>
                <a:spcPct val="75000"/>
              </a:lnSpc>
              <a:spcBef>
                <a:spcPts val="1100"/>
              </a:spcBef>
              <a:spcAft>
                <a:spcPts val="0"/>
              </a:spcAft>
              <a:buSzPts val="209"/>
              <a:buNone/>
            </a:pPr>
            <a:r>
              <a:rPr lang="en" sz="1600">
                <a:solidFill>
                  <a:srgbClr val="333333"/>
                </a:solidFill>
              </a:rPr>
              <a:t>Data Analytics and Data Science (DADS)</a:t>
            </a:r>
            <a:endParaRPr sz="1600">
              <a:solidFill>
                <a:srgbClr val="333333"/>
              </a:solidFill>
            </a:endParaRPr>
          </a:p>
          <a:p>
            <a:pPr marL="0" lvl="0" indent="0" algn="ctr" rtl="0">
              <a:lnSpc>
                <a:spcPct val="75000"/>
              </a:lnSpc>
              <a:spcBef>
                <a:spcPts val="1100"/>
              </a:spcBef>
              <a:spcAft>
                <a:spcPts val="1100"/>
              </a:spcAft>
              <a:buSzPts val="209"/>
              <a:buNone/>
            </a:pPr>
            <a:r>
              <a:rPr lang="en" sz="1600">
                <a:solidFill>
                  <a:srgbClr val="333333"/>
                </a:solidFill>
              </a:rPr>
              <a:t>คณะสถิติประยุกต์ นิด้า (NIDA, BKK, Thailand)</a:t>
            </a:r>
            <a:endParaRPr sz="1600"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Analysis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10000"/>
          </a:bodyPr>
          <a:lstStyle/>
          <a:p>
            <a:pPr marL="457200" lvl="0" indent="-317658" algn="l" rtl="0">
              <a:spcBef>
                <a:spcPts val="500"/>
              </a:spcBef>
              <a:spcAft>
                <a:spcPts val="0"/>
              </a:spcAft>
              <a:buSzPct val="100000"/>
              <a:buChar char="-"/>
            </a:pPr>
            <a:r>
              <a:rPr lang="en" sz="2550">
                <a:solidFill>
                  <a:srgbClr val="202122"/>
                </a:solidFill>
                <a:highlight>
                  <a:srgbClr val="FFFFFF"/>
                </a:highlight>
              </a:rPr>
              <a:t>The process of investigating social structures through the use of networks and graph theory</a:t>
            </a:r>
            <a:endParaRPr sz="25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1" indent="-31765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 b="1" i="1">
                <a:solidFill>
                  <a:srgbClr val="202122"/>
                </a:solidFill>
                <a:highlight>
                  <a:srgbClr val="FFFFFF"/>
                </a:highlight>
              </a:rPr>
              <a:t>nodes</a:t>
            </a:r>
            <a:r>
              <a:rPr lang="en" sz="2550" b="1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" sz="2550">
                <a:solidFill>
                  <a:srgbClr val="202122"/>
                </a:solidFill>
                <a:highlight>
                  <a:srgbClr val="FFFFFF"/>
                </a:highlight>
              </a:rPr>
              <a:t>(individual actors, people, or things within the network) and </a:t>
            </a:r>
            <a:endParaRPr sz="25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1" indent="-31765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 b="1" i="1">
                <a:solidFill>
                  <a:srgbClr val="202122"/>
                </a:solidFill>
                <a:highlight>
                  <a:srgbClr val="FFFFFF"/>
                </a:highlight>
              </a:rPr>
              <a:t>ties</a:t>
            </a:r>
            <a:r>
              <a:rPr lang="en" sz="2550" b="1">
                <a:solidFill>
                  <a:srgbClr val="202122"/>
                </a:solidFill>
                <a:highlight>
                  <a:srgbClr val="FFFFFF"/>
                </a:highlight>
              </a:rPr>
              <a:t>, </a:t>
            </a:r>
            <a:r>
              <a:rPr lang="en" sz="2550" b="1" i="1">
                <a:solidFill>
                  <a:srgbClr val="202122"/>
                </a:solidFill>
                <a:highlight>
                  <a:srgbClr val="FFFFFF"/>
                </a:highlight>
              </a:rPr>
              <a:t>edges</a:t>
            </a:r>
            <a:r>
              <a:rPr lang="en" sz="2550" b="1">
                <a:solidFill>
                  <a:srgbClr val="202122"/>
                </a:solidFill>
                <a:highlight>
                  <a:srgbClr val="FFFFFF"/>
                </a:highlight>
              </a:rPr>
              <a:t>, or </a:t>
            </a:r>
            <a:r>
              <a:rPr lang="en" sz="2550" b="1" i="1">
                <a:solidFill>
                  <a:srgbClr val="202122"/>
                </a:solidFill>
                <a:highlight>
                  <a:srgbClr val="FFFFFF"/>
                </a:highlight>
              </a:rPr>
              <a:t>links</a:t>
            </a:r>
            <a:r>
              <a:rPr lang="en" sz="2550">
                <a:solidFill>
                  <a:srgbClr val="202122"/>
                </a:solidFill>
                <a:highlight>
                  <a:srgbClr val="FFFFFF"/>
                </a:highlight>
              </a:rPr>
              <a:t> (relationships or interactions) that connect them.</a:t>
            </a:r>
            <a:endParaRPr sz="25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25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lvl="0" indent="-317658" algn="l" rtl="0">
              <a:spcBef>
                <a:spcPts val="500"/>
              </a:spcBef>
              <a:spcAft>
                <a:spcPts val="0"/>
              </a:spcAft>
              <a:buSzPct val="100000"/>
              <a:buChar char="-"/>
            </a:pPr>
            <a:r>
              <a:rPr lang="en" sz="2550">
                <a:solidFill>
                  <a:srgbClr val="202122"/>
                </a:solidFill>
                <a:highlight>
                  <a:srgbClr val="FFFFFF"/>
                </a:highlight>
              </a:rPr>
              <a:t>Examples of social structures commonly visualized through social network analysis include </a:t>
            </a:r>
            <a:endParaRPr sz="25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1" indent="-31765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>
                <a:solidFill>
                  <a:srgbClr val="202122"/>
                </a:solidFill>
                <a:highlight>
                  <a:srgbClr val="FFFFFF"/>
                </a:highlight>
              </a:rPr>
              <a:t>social media networks</a:t>
            </a:r>
            <a:endParaRPr sz="25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1" indent="-31765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>
                <a:solidFill>
                  <a:srgbClr val="202122"/>
                </a:solidFill>
                <a:highlight>
                  <a:srgbClr val="FFFFFF"/>
                </a:highlight>
              </a:rPr>
              <a:t>memes spread</a:t>
            </a:r>
            <a:endParaRPr sz="25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1" indent="-31765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>
                <a:solidFill>
                  <a:srgbClr val="202122"/>
                </a:solidFill>
                <a:highlight>
                  <a:srgbClr val="FFFFFF"/>
                </a:highlight>
              </a:rPr>
              <a:t>information circulation</a:t>
            </a:r>
            <a:endParaRPr sz="25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1" indent="-31765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>
                <a:solidFill>
                  <a:srgbClr val="202122"/>
                </a:solidFill>
                <a:highlight>
                  <a:srgbClr val="FFFFFF"/>
                </a:highlight>
              </a:rPr>
              <a:t>friendship and acquaintance networks </a:t>
            </a:r>
            <a:endParaRPr sz="25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1" indent="-31765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>
                <a:solidFill>
                  <a:srgbClr val="202122"/>
                </a:solidFill>
                <a:highlight>
                  <a:srgbClr val="FFFFFF"/>
                </a:highlight>
              </a:rPr>
              <a:t>business networks</a:t>
            </a:r>
            <a:endParaRPr sz="25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1" indent="-31765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>
                <a:solidFill>
                  <a:srgbClr val="202122"/>
                </a:solidFill>
                <a:highlight>
                  <a:srgbClr val="FFFFFF"/>
                </a:highlight>
              </a:rPr>
              <a:t>knowledge networks</a:t>
            </a:r>
            <a:endParaRPr sz="25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1" indent="-31765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>
                <a:solidFill>
                  <a:srgbClr val="202122"/>
                </a:solidFill>
                <a:highlight>
                  <a:srgbClr val="FFFFFF"/>
                </a:highlight>
              </a:rPr>
              <a:t>difficult working relationships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3072000" y="45688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https://en.wikipedia.org/wiki/Social_network_analysis</a:t>
            </a:r>
            <a:endParaRPr sz="900"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121" y="0"/>
            <a:ext cx="80777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75" y="0"/>
            <a:ext cx="827890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688" y="0"/>
            <a:ext cx="804862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0761"/>
            <a:ext cx="9143998" cy="414197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2456600" y="4642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https://gephi.org/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Gephi features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 dirty="0">
                <a:solidFill>
                  <a:schemeClr val="hlink"/>
                </a:solidFill>
                <a:hlinkClick r:id="rId3"/>
              </a:rPr>
              <a:t>https://gephi.org/features/</a:t>
            </a:r>
            <a:endParaRPr sz="28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get started</a:t>
            </a: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Link: 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u="sng" dirty="0">
                <a:solidFill>
                  <a:schemeClr val="hlink"/>
                </a:solidFill>
                <a:hlinkClick r:id="rId3"/>
              </a:rPr>
              <a:t>https://gephi.org/tutorials/gephi-tutorial-quick_start.pdf</a:t>
            </a:r>
            <a:endParaRPr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u="sng" dirty="0">
                <a:solidFill>
                  <a:schemeClr val="hlink"/>
                </a:solidFill>
                <a:hlinkClick r:id="rId4"/>
              </a:rPr>
              <a:t>https://seinecle.github.io/gephi-tutorials/generated-pdf/simple-project-	</a:t>
            </a:r>
            <a:r>
              <a:rPr lang="en" sz="2000" u="sng" dirty="0">
                <a:solidFill>
                  <a:schemeClr val="hlink"/>
                </a:solidFill>
                <a:hlinkClick r:id="rId4"/>
              </a:rPr>
              <a:t>f</a:t>
            </a:r>
            <a:r>
              <a:rPr lang="en" sz="2000" u="sng" dirty="0">
                <a:solidFill>
                  <a:schemeClr val="hlink"/>
                </a:solidFill>
                <a:hlinkClick r:id="rId4"/>
              </a:rPr>
              <a:t>rom-a-to-z-en.pdf</a:t>
            </a:r>
            <a:endParaRPr sz="2000" dirty="0"/>
          </a:p>
        </p:txBody>
      </p:sp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/>
          </a:blip>
          <a:srcRect r="68072"/>
          <a:stretch/>
        </p:blipFill>
        <p:spPr>
          <a:xfrm>
            <a:off x="3810581" y="104100"/>
            <a:ext cx="1522825" cy="453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0" y="477420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https://www.overthinkingit.com/2013/01/02/can-you-hear-the-people-graph-les-miserables/</a:t>
            </a:r>
            <a:endParaRPr sz="1200"/>
          </a:p>
        </p:txBody>
      </p:sp>
      <p:sp>
        <p:nvSpPr>
          <p:cNvPr id="113" name="Google Shape;11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0737"/>
            <a:ext cx="9144002" cy="376282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570975" y="4199575"/>
            <a:ext cx="78996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>
                <a:hlinkClick r:id="rId4"/>
              </a:rPr>
              <a:t>https://gephi.org/plugins/#/plugin/twitter-streaming-importer</a:t>
            </a:r>
            <a:endParaRPr lang="th-TH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linkClick r:id="rId5"/>
              </a:rPr>
              <a:t>https://github.com/seinecle/gephi-tutorials/blob/master/src/main/asciidoc/twitter-streaming-importer-en.adoc</a:t>
            </a:r>
            <a:endParaRPr lang="th-TH" sz="12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th-TH" sz="12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/>
          </a:p>
        </p:txBody>
      </p:sp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358" y="0"/>
            <a:ext cx="736728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075" y="728663"/>
            <a:ext cx="718185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245</Words>
  <Application>Microsoft Office PowerPoint</Application>
  <PresentationFormat>On-screen Show (16:9)</PresentationFormat>
  <Paragraphs>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Social Network Analysis: Gephi</vt:lpstr>
      <vt:lpstr>Social Network Analysis</vt:lpstr>
      <vt:lpstr>PowerPoint Presentation</vt:lpstr>
      <vt:lpstr>PowerPoint Presentation</vt:lpstr>
      <vt:lpstr>PowerPoint Presentation</vt:lpstr>
      <vt:lpstr>PowerPoint Presentation</vt:lpstr>
      <vt:lpstr>Gephi features</vt:lpstr>
      <vt:lpstr>Let’s get started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DATA+AI+ML Power Tools for Social Network Analysis: Gephi</dc:title>
  <dc:creator>Admin</dc:creator>
  <cp:lastModifiedBy>Ekarat Rattagan</cp:lastModifiedBy>
  <cp:revision>3</cp:revision>
  <dcterms:modified xsi:type="dcterms:W3CDTF">2024-10-25T12:14:00Z</dcterms:modified>
</cp:coreProperties>
</file>